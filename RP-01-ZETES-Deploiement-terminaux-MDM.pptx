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9cc5fe-ed05-00d4-cf6e-cf06c0fe7fef}">
          <p14:sldIdLst>
            <p14:sldId id="256"/>
          </p14:sldIdLst>
        </p14:section>
        <p14:section name="Contexte" id="{d677851b-702f-8ca3-9eec-0cd8834bce10}">
          <p14:sldIdLst>
            <p14:sldId id="257"/>
            <p14:sldId id="258"/>
            <p14:sldId id="259"/>
          </p14:sldIdLst>
        </p14:section>
        <p14:section name="Réalisation" id="{fe8e39f9-e9ac-e546-4b39-236fe708f1ca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rocédure" id="{4dd86c6d-3a64-ad7d-376b-a99a08fab76c}">
          <p14:sldIdLst>
            <p14:sldId id="266"/>
            <p14:sldId id="267"/>
            <p14:sldId id="268"/>
            <p14:sldId id="269"/>
          </p14:sldIdLst>
        </p14:section>
        <p14:section name="Bilan" id="{fd92d084-330b-04d4-e63a-da8b7fe52faa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projet en une phrase : pendant deux ans d'alternance chez ZETES France, j'ai préparé et déployé des flottes de terminaux mobiles industriels pour des clients, grâce au MDM SOTI MobiControl.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variété des clients et des volumes : une commande pouvait aller de 3 à 300 terminaux, il fallait donc une méthode fiable et reproductible.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Commencer simplement : un terminal mobile, c'est un smartphone professionnel renforcé avec un scanner. Donner un exemple concret : chez Carrefour, un employé scanne une étiquette en rayon pour voir le stock ; chez DHL, le livreur scanne le colis et le client signe sur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à quoi servent ces terminaux : un préparateur de commandes ou un cariste scanne les produits, et les données arrivent directement dans le logiciel de l'entreprise, sans ressaisie.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préparais, je configurais, je testais, je traçais le matériel, puis j'assurais le support une fois les terminaux livrés.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les sept étapes. Les étapes 4 et 5, en couleur, se font dans le MDM SOTI : c'est le cœur technique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gain de temps : au lieu de configurer chaque terminal à la main, je scannais des QR codes. Le Wi-Fi d'abord, puis, si besoin, la réinitialisation en état d'usine, et enfin le QR code d'enrôlement qui fait remonter le terminal dans SOTI, où il reçoit tout seul sa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MDM, c'est une console qui pilote tous les terminaux à distance. Préciser qu'en tant qu'alternant, certaines actions m'étaient interdites : c'est une bonne pratique de sécurité.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terminal a deux liens. Le premier vers la console SOTI : c'est par là que je configurais et sécurisais les terminaux. Le second vers le serveur du client : c'est par là que passent les données scannées dans l'entrepôt ou le magasin.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jury demande : le mode kiosque, je le mettais en place moi-même. Le verrouillage et l'effacement à distance existent dans SOTI, mais ce sont des actions irréversibles, donc réservées aux techniciens confirmés.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captures en suivant les numéros. Expliquer pourquoi on passe par une stratégie : on configure une fois, et SOTI l'applique à tous les terminaux.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captures en suivant les numéros. Expliquer pourquoi on passe par une stratégie : on configure une fois, et SOTI l'applique à tous les terminaux.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captures en suivant les numéros. Expliquer pourquoi on passe par une stratégie : on configure une fois, et SOTI l'applique à tous les terminaux.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profil d'hôte indique à Velocity à quel serveur se connecter. Une fois la stratégie attribuée, tous les terminaux ciblés reçoivent l'application déjà configurée, sans intervention manuelle.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les incidents les plus fréquents. Montrer la démarche : diagnostiquer, appliquer une solution, et escalader au fournisseur quand c'est matériel.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support de niveau 3 m'a appris la relation client : diagnostiquer vite, expliquer simplement, et savoir quand escalader.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reliant le projet aux compétences du bloc 1, puis à mon choix de poursuivre en BTS SIO SISR.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RP-01 · ZETES France · Issak Dirir · BTS SIO SISR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RP-01 · ALTERNANCE ZETES FRANCE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Déploiement de terminaux mobiles par MDM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Issak Dirir · BTS SIO option SISR · Session 2027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ZETES France, Antony · sept. 2023 – juin 2025</a:t>
            </a:r>
            <a:endParaRPr lang="en-US" sz="1800" dirty="0"/>
          </a:p>
        </p:txBody>
      </p:sp>
      <p:pic>
        <p:nvPicPr>
          <p:cNvPr id="5" name="Photo masterisation" descr="Terminaux mobiles en cours de masteris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907931"/>
            <a:ext cx="4572000" cy="30421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8660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Masterisation d'un lot de terminaux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contexte : ZETES France et ses clients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ZETES France, filiale du groupe ZETES (groupe Panasonic), fournit des solutions de traçabilité pour la chaîne logistique : terminaux mobiles, scanners, imprimantes d'étiquettes.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J'étais apprenti au service Help Desk du département « Professional Services », à Antony.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Clients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Carrefour, Boulanger, DHL, Lactalis, Renault, Brink's, Stokomani et des commerçants indépendants.</a:t>
            </a:r>
            <a:endParaRPr lang="en-US" sz="1600" dirty="0"/>
          </a:p>
        </p:txBody>
      </p:sp>
      <p:sp>
        <p:nvSpPr>
          <p:cNvPr id="4" name="Chiffre 1"/>
          <p:cNvSpPr/>
          <p:nvPr/>
        </p:nvSpPr>
        <p:spPr>
          <a:xfrm>
            <a:off x="6858000" y="141732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78040" y="1554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 à 300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terminaux par commande, selon les périodes</a:t>
            </a:r>
            <a:endParaRPr lang="en-US" sz="1500" dirty="0"/>
          </a:p>
        </p:txBody>
      </p:sp>
      <p:sp>
        <p:nvSpPr>
          <p:cNvPr id="7" name="Chiffre 2"/>
          <p:cNvSpPr/>
          <p:nvPr/>
        </p:nvSpPr>
        <p:spPr>
          <a:xfrm>
            <a:off x="6858000" y="301752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78040" y="3154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2 ans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d'alternance (2023-2025)</a:t>
            </a:r>
            <a:endParaRPr lang="en-US" sz="1500" dirty="0"/>
          </a:p>
        </p:txBody>
      </p:sp>
      <p:sp>
        <p:nvSpPr>
          <p:cNvPr id="10" name="Chiffre 3"/>
          <p:cNvSpPr/>
          <p:nvPr/>
        </p:nvSpPr>
        <p:spPr>
          <a:xfrm>
            <a:off x="6858000" y="461772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4754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France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5458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et parfois l'étranger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La réception et l'expédition des colis étaient gérées par un service logistique dédié.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À quoi sert un terminal mobile 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C'est un petit ordinateur durci, avec un lecteur de codes-barres intégré. L'utilisateur scanne un produit ou un colis, et l'information part aussitôt dans le logiciel de l'entreprise (WMS, ERP, caisse) : plus de papier, plus de ressaisie.</a:t>
            </a:r>
            <a:endParaRPr lang="en-US" sz="1600" dirty="0"/>
          </a:p>
        </p:txBody>
      </p:sp>
      <p:sp>
        <p:nvSpPr>
          <p:cNvPr id="4" name="Usage En entrepôt"/>
          <p:cNvSpPr/>
          <p:nvPr/>
        </p:nvSpPr>
        <p:spPr>
          <a:xfrm>
            <a:off x="548640" y="2514600"/>
            <a:ext cx="34747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n entrepôt cercle"/>
          <p:cNvSpPr/>
          <p:nvPr/>
        </p:nvSpPr>
        <p:spPr>
          <a:xfrm>
            <a:off x="868680" y="2834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En entrepôt icône" descr="En entrepô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90" y="3025750"/>
            <a:ext cx="486461" cy="4864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 entrepôt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Préparateurs de commandes, caristes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7548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Réception des marchandises, rangement, préparation des commandes, inventaires</a:t>
            </a:r>
            <a:endParaRPr lang="en-US" sz="1400" dirty="0"/>
          </a:p>
        </p:txBody>
      </p:sp>
      <p:sp>
        <p:nvSpPr>
          <p:cNvPr id="10" name="Usage En magasin"/>
          <p:cNvSpPr/>
          <p:nvPr/>
        </p:nvSpPr>
        <p:spPr>
          <a:xfrm>
            <a:off x="4297680" y="2514600"/>
            <a:ext cx="34747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n magasin cercle"/>
          <p:cNvSpPr/>
          <p:nvPr/>
        </p:nvSpPr>
        <p:spPr>
          <a:xfrm>
            <a:off x="4617720" y="28346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En magasin icône" descr="En magas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830" y="302575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 magasin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Vendeurs, employés de rayon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7548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Vérification des prix et des stocks, étiquetage, réassort, encaissement mobile</a:t>
            </a:r>
            <a:endParaRPr lang="en-US" sz="1400" dirty="0"/>
          </a:p>
        </p:txBody>
      </p:sp>
      <p:sp>
        <p:nvSpPr>
          <p:cNvPr id="16" name="Usage En transport"/>
          <p:cNvSpPr/>
          <p:nvPr/>
        </p:nvSpPr>
        <p:spPr>
          <a:xfrm>
            <a:off x="8046720" y="2514600"/>
            <a:ext cx="34747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n transport cercle"/>
          <p:cNvSpPr/>
          <p:nvPr/>
        </p:nvSpPr>
        <p:spPr>
          <a:xfrm>
            <a:off x="8366760" y="2834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En transport icône" descr="En trans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870" y="302575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 transport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Livreurs, convoyeurs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47548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Suivi des colis, preuve de livraison, signature du client sur l'écran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matériel préparé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Les marques que je préparais le plus : terminaux de poche industriels et PDA Honeywell et Zebra, tablettes durcies Panasonic.</a:t>
            </a:r>
            <a:endParaRPr lang="en-US" sz="1600" dirty="0"/>
          </a:p>
        </p:txBody>
      </p:sp>
      <p:sp>
        <p:nvSpPr>
          <p:cNvPr id="4" name="Bordure Honeywell"/>
          <p:cNvSpPr/>
          <p:nvPr/>
        </p:nvSpPr>
        <p:spPr>
          <a:xfrm>
            <a:off x="548640" y="23774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</p:spPr>
      </p:sp>
      <p:pic>
        <p:nvPicPr>
          <p:cNvPr id="5" name="Image Honeywell" descr="Terminal Honeyw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33454"/>
            <a:ext cx="2926080" cy="2454132"/>
          </a:xfrm>
          <a:prstGeom prst="rect">
            <a:avLst/>
          </a:prstGeom>
        </p:spPr>
      </p:pic>
      <p:sp>
        <p:nvSpPr>
          <p:cNvPr id="6" name="Bordure Zebra"/>
          <p:cNvSpPr/>
          <p:nvPr/>
        </p:nvSpPr>
        <p:spPr>
          <a:xfrm>
            <a:off x="4297680" y="23774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</p:spPr>
      </p:sp>
      <p:pic>
        <p:nvPicPr>
          <p:cNvPr id="7" name="Image Zebra" descr="Terminal 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74396"/>
            <a:ext cx="2926080" cy="2372248"/>
          </a:xfrm>
          <a:prstGeom prst="rect">
            <a:avLst/>
          </a:prstGeom>
        </p:spPr>
      </p:pic>
      <p:sp>
        <p:nvSpPr>
          <p:cNvPr id="8" name="Bordure Panasonic (tablettes)"/>
          <p:cNvSpPr/>
          <p:nvPr/>
        </p:nvSpPr>
        <p:spPr>
          <a:xfrm>
            <a:off x="8046720" y="23774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</p:spPr>
      </p:sp>
      <p:pic>
        <p:nvPicPr>
          <p:cNvPr id="9" name="Image Panasonic (tablettes)" descr="Terminal Panasonic (tablettes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69669"/>
            <a:ext cx="2926080" cy="27817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Mon rôle</a:t>
            </a:r>
            <a:endParaRPr lang="en-US" sz="3200" dirty="0"/>
          </a:p>
        </p:txBody>
      </p:sp>
      <p:sp>
        <p:nvSpPr>
          <p:cNvPr id="3" name="Préparer cercle"/>
          <p:cNvSpPr/>
          <p:nvPr/>
        </p:nvSpPr>
        <p:spPr>
          <a:xfrm>
            <a:off x="548640" y="1508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réparer icône" descr="Prépar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1689811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Préparer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74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Prise en main des terminaux, coque de sécurité, mises à jour Android</a:t>
            </a:r>
            <a:endParaRPr lang="en-US" sz="1500" dirty="0"/>
          </a:p>
        </p:txBody>
      </p:sp>
      <p:sp>
        <p:nvSpPr>
          <p:cNvPr id="7" name="Configurer cercle"/>
          <p:cNvSpPr/>
          <p:nvPr/>
        </p:nvSpPr>
        <p:spPr>
          <a:xfrm>
            <a:off x="6172200" y="15087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Configurer icône" descr="Configu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251" y="1689811"/>
            <a:ext cx="460858" cy="4608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2376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Configurer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874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Masterisation des terminaux dans le MDM SOTI selon le profil du client</a:t>
            </a:r>
            <a:endParaRPr lang="en-US" sz="1500" dirty="0"/>
          </a:p>
        </p:txBody>
      </p:sp>
      <p:sp>
        <p:nvSpPr>
          <p:cNvPr id="11" name="Tester et valider cercle"/>
          <p:cNvSpPr/>
          <p:nvPr/>
        </p:nvSpPr>
        <p:spPr>
          <a:xfrm>
            <a:off x="548640" y="3063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ester et valider icône" descr="Tester et vali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3244291"/>
            <a:ext cx="460858" cy="46085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Tester et valider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429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Validation de la configuration avant le déploiement à grande échelle</a:t>
            </a:r>
            <a:endParaRPr lang="en-US" sz="1500" dirty="0"/>
          </a:p>
        </p:txBody>
      </p:sp>
      <p:sp>
        <p:nvSpPr>
          <p:cNvPr id="15" name="Tracer cercle"/>
          <p:cNvSpPr/>
          <p:nvPr/>
        </p:nvSpPr>
        <p:spPr>
          <a:xfrm>
            <a:off x="6172200" y="30632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Tracer icône" descr="Trac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251" y="3244291"/>
            <a:ext cx="460858" cy="46085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2376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Tracer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7223760" y="3429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Étiquetage et fichier de suivi Excel : numéro de série, propriétaire, localisation</a:t>
            </a:r>
            <a:endParaRPr lang="en-US" sz="1500" dirty="0"/>
          </a:p>
        </p:txBody>
      </p:sp>
      <p:sp>
        <p:nvSpPr>
          <p:cNvPr id="19" name="Assister cercle"/>
          <p:cNvSpPr/>
          <p:nvPr/>
        </p:nvSpPr>
        <p:spPr>
          <a:xfrm>
            <a:off x="548640" y="46177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Assister icône" descr="Assis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" y="4798771"/>
            <a:ext cx="460858" cy="46085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0020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Assister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1600200" y="49834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Support matériel, relation client de niveau 3, suivi des incidents fournisseurs</a:t>
            </a:r>
            <a:endParaRPr lang="en-US" sz="1500" dirty="0"/>
          </a:p>
        </p:txBody>
      </p:sp>
      <p:sp>
        <p:nvSpPr>
          <p:cNvPr id="23" name="Compétences"/>
          <p:cNvSpPr/>
          <p:nvPr/>
        </p:nvSpPr>
        <p:spPr>
          <a:xfrm>
            <a:off x="6172200" y="452628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400800" y="46177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Compétences du bloc 1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B1.1 gérer le patrimoine informatique · B1.2 répondre aux incidents · B1.5 mettre à disposition un service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processus de préparation</a:t>
            </a:r>
            <a:endParaRPr lang="en-US" sz="3200" dirty="0"/>
          </a:p>
        </p:txBody>
      </p:sp>
      <p:sp>
        <p:nvSpPr>
          <p:cNvPr id="3" name="Ligne du processus"/>
          <p:cNvSpPr/>
          <p:nvPr/>
        </p:nvSpPr>
        <p:spPr>
          <a:xfrm>
            <a:off x="1338943" y="2194560"/>
            <a:ext cx="9483634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Réception cercle"/>
          <p:cNvSpPr/>
          <p:nvPr/>
        </p:nvSpPr>
        <p:spPr>
          <a:xfrm>
            <a:off x="881743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éception icône" descr="Réce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911" y="19385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0303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Réception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Vérification et pose de la coque de sécurité</a:t>
            </a:r>
            <a:endParaRPr lang="en-US" sz="1300" dirty="0"/>
          </a:p>
        </p:txBody>
      </p:sp>
      <p:sp>
        <p:nvSpPr>
          <p:cNvPr id="9" name="Traçabilité cercle"/>
          <p:cNvSpPr/>
          <p:nvPr/>
        </p:nvSpPr>
        <p:spPr>
          <a:xfrm>
            <a:off x="2462349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raçabilité icône" descr="Traçabilit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517" y="193852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70909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174966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Traçabilité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202398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Étiquetage et saisie dans le fichier de suivi</a:t>
            </a:r>
            <a:endParaRPr lang="en-US" sz="1300" dirty="0"/>
          </a:p>
        </p:txBody>
      </p:sp>
      <p:sp>
        <p:nvSpPr>
          <p:cNvPr id="14" name="Mise à jour cercle"/>
          <p:cNvSpPr/>
          <p:nvPr/>
        </p:nvSpPr>
        <p:spPr>
          <a:xfrm>
            <a:off x="4042954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Mise à jour icône" descr="Mise à jo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122" y="193852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51514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755571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Mise à jour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783003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Installation des mises à jour Android</a:t>
            </a:r>
            <a:endParaRPr lang="en-US" sz="1300" dirty="0"/>
          </a:p>
        </p:txBody>
      </p:sp>
      <p:sp>
        <p:nvSpPr>
          <p:cNvPr id="19" name="Inscription cercle"/>
          <p:cNvSpPr/>
          <p:nvPr/>
        </p:nvSpPr>
        <p:spPr>
          <a:xfrm>
            <a:off x="5623560" y="17373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nscription icône" descr="Inscrip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193852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336177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Inscription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363609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Enrôlement dans SOTI par QR code</a:t>
            </a:r>
            <a:endParaRPr lang="en-US" sz="1300" dirty="0"/>
          </a:p>
        </p:txBody>
      </p:sp>
      <p:sp>
        <p:nvSpPr>
          <p:cNvPr id="24" name="Profil client cercle"/>
          <p:cNvSpPr/>
          <p:nvPr/>
        </p:nvSpPr>
        <p:spPr>
          <a:xfrm>
            <a:off x="7204166" y="17373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Profil client icône" descr="Profil cli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334" y="1938528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12726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916783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Profil client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944215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Applications, paramètres, mode kiosque</a:t>
            </a:r>
            <a:endParaRPr lang="en-US" sz="1300" dirty="0"/>
          </a:p>
        </p:txBody>
      </p:sp>
      <p:sp>
        <p:nvSpPr>
          <p:cNvPr id="29" name="Validation cercle"/>
          <p:cNvSpPr/>
          <p:nvPr/>
        </p:nvSpPr>
        <p:spPr>
          <a:xfrm>
            <a:off x="8784771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Validation icône" descr="Valid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939" y="1938528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93331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497389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524821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Tests de la configuration</a:t>
            </a:r>
            <a:endParaRPr lang="en-US" sz="1300" dirty="0"/>
          </a:p>
        </p:txBody>
      </p:sp>
      <p:sp>
        <p:nvSpPr>
          <p:cNvPr id="34" name="Expédition cercle"/>
          <p:cNvSpPr/>
          <p:nvPr/>
        </p:nvSpPr>
        <p:spPr>
          <a:xfrm>
            <a:off x="10365377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Expédition icône" descr="Expédi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6545" y="1938528"/>
            <a:ext cx="512064" cy="51206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273937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10077994" y="3108960"/>
            <a:ext cx="14891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Expédition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0105426" y="3520440"/>
            <a:ext cx="1434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Remise au service logistique</a:t>
            </a:r>
            <a:endParaRPr lang="en-US" sz="1300" dirty="0"/>
          </a:p>
        </p:txBody>
      </p:sp>
      <p:sp>
        <p:nvSpPr>
          <p:cNvPr id="39" name="Résultat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Résultat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à la mise sous tension, le client retrouve directement un terminal personnalisé, avec ses applications et ses réglages, prêt à l'emploi.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Une préparation rapide grâce aux QR codes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grande partie de la préparation se fait sans rien taper : le terminal scanne un QR code qui contient déjà les réglages à appliquer.</a:t>
            </a:r>
            <a:endParaRPr lang="en-US" sz="1600" dirty="0"/>
          </a:p>
        </p:txBody>
      </p:sp>
      <p:sp>
        <p:nvSpPr>
          <p:cNvPr id="4" name="Carte QR code Wi-Fi"/>
          <p:cNvSpPr/>
          <p:nvPr/>
        </p:nvSpPr>
        <p:spPr>
          <a:xfrm>
            <a:off x="548640" y="2331720"/>
            <a:ext cx="3291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sp>
        <p:nvSpPr>
          <p:cNvPr id="5" name="QR code Wi-Fi cercle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QR code Wi-Fi icône" descr="QR code Wi-F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277703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QR code Wi-Fi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 terminal se connecte tout seul au réseau sans fil, sans saisir le nom du réseau ni le mot de passe.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Carte QR code de réinitialisation"/>
          <p:cNvSpPr/>
          <p:nvPr/>
        </p:nvSpPr>
        <p:spPr>
          <a:xfrm>
            <a:off x="4434840" y="2331720"/>
            <a:ext cx="3291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sp>
        <p:nvSpPr>
          <p:cNvPr id="11" name="QR code de réinitialisation cercle"/>
          <p:cNvSpPr/>
          <p:nvPr/>
        </p:nvSpPr>
        <p:spPr>
          <a:xfrm>
            <a:off x="4709160" y="2606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QR code de réinitialisation icône" descr="QR code de réinitialis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153" y="277703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QR code de réinitialisation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Remise du terminal en état d'usine, par exemple quand une mise à jour échoue.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Carte QR code d'enrôlement SOTI"/>
          <p:cNvSpPr/>
          <p:nvPr/>
        </p:nvSpPr>
        <p:spPr>
          <a:xfrm>
            <a:off x="8321040" y="2331720"/>
            <a:ext cx="3291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sp>
        <p:nvSpPr>
          <p:cNvPr id="17" name="QR code d'enrôlement SOTI cercle"/>
          <p:cNvSpPr/>
          <p:nvPr/>
        </p:nvSpPr>
        <p:spPr>
          <a:xfrm>
            <a:off x="8595360" y="26060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QR code d'enrôlement SOTI icône" descr="QR code d'enrôlement SOT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353" y="2777033"/>
            <a:ext cx="435254" cy="43525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50976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QR code d'enrôlement SOTI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59536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Après la réinitialisation, le terminal remonte dans SOTI, dans le bon groupe, et reçoit automatiquement le profil du client.</a:t>
            </a:r>
            <a:endParaRPr lang="en-US" sz="1400" dirty="0"/>
          </a:p>
        </p:txBody>
      </p:sp>
      <p:sp>
        <p:nvSpPr>
          <p:cNvPr id="21" name="Avantage QR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L'intérêt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gros gain de temps sur chaque terminal, la même configuration pour tout le lot et beaucoup moins d'erreurs de saisie, même pour 300 appareils.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MDM SOTI MobiControl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MDM (Mobile Device Management) gère toute une flotte de terminaux depuis une console centrale, même lorsqu'ils sont chez le client.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Mes actions dans SOTI</a:t>
            </a:r>
            <a:endParaRPr lang="en-US" sz="1800" dirty="0"/>
          </a:p>
        </p:txBody>
      </p:sp>
      <p:sp>
        <p:nvSpPr>
          <p:cNvPr id="5" name="Création de profils de configuration cercle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réation de profils de configuration icône" descr="Création de profils de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8437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743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Création de profils de configuration</a:t>
            </a:r>
            <a:endParaRPr lang="en-US" sz="1500" dirty="0"/>
          </a:p>
        </p:txBody>
      </p:sp>
      <p:sp>
        <p:nvSpPr>
          <p:cNvPr id="8" name="Déploiement (« push ») d'applications cercle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Déploiement (« push ») d'applications icône" descr="Déploiement (« push ») d'applic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4472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33467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Déploiement (« push ») d'applications</a:t>
            </a:r>
            <a:endParaRPr lang="en-US" sz="1500" dirty="0"/>
          </a:p>
        </p:txBody>
      </p:sp>
      <p:sp>
        <p:nvSpPr>
          <p:cNvPr id="11" name="Verrouillage en mode kiosque cercle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Verrouillage en mode kiosque icône" descr="Verrouillage en mode kios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950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Verrouillage en mode kiosque</a:t>
            </a:r>
            <a:endParaRPr lang="en-US" sz="1500" dirty="0"/>
          </a:p>
        </p:txBody>
      </p:sp>
      <p:sp>
        <p:nvSpPr>
          <p:cNvPr id="14" name="Prise de contrôle à distance pour le support cercle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rise de contrôle à distance pour le support icône" descr="Prise de contrôle à distance pour le sup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65429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5537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Prise de contrôle à distance pour le support</a:t>
            </a:r>
            <a:endParaRPr lang="en-US" sz="1500" dirty="0"/>
          </a:p>
        </p:txBody>
      </p:sp>
      <p:sp>
        <p:nvSpPr>
          <p:cNvPr id="17" name="Déplacement des terminaux vers le bon groupe du client cercle"/>
          <p:cNvSpPr/>
          <p:nvPr/>
        </p:nvSpPr>
        <p:spPr>
          <a:xfrm>
            <a:off x="548640" y="51572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Déplacement des terminaux vers le bon groupe du client icône" descr="Déplacement des terminaux vers le bon groupe du cli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25780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51572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Déplacement des terminaux vers le bon groupe du client</a:t>
            </a:r>
            <a:endParaRPr lang="en-US" sz="1500" dirty="0"/>
          </a:p>
        </p:txBody>
      </p:sp>
      <p:sp>
        <p:nvSpPr>
          <p:cNvPr id="20" name="Ce que permet le MDM"/>
          <p:cNvSpPr/>
          <p:nvPr/>
        </p:nvSpPr>
        <p:spPr>
          <a:xfrm>
            <a:off x="6949440" y="1371600"/>
            <a:ext cx="466344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223760" y="1554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 que permet un MDM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7223760" y="2011680"/>
            <a:ext cx="4206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Inventaire précis du parc, avec géolocalisation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 à distance de l'utilisateur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Accès limité aux seules applications professionnelles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Enrôlement automatique selon le profil métier (un cariste n'a pas les mêmes applications qu'un commercial)</a:t>
            </a:r>
            <a:endParaRPr lang="en-US" sz="1400" dirty="0"/>
          </a:p>
        </p:txBody>
      </p:sp>
      <p:sp>
        <p:nvSpPr>
          <p:cNvPr id="23" name="Limites"/>
          <p:cNvSpPr/>
          <p:nvPr/>
        </p:nvSpPr>
        <p:spPr>
          <a:xfrm>
            <a:off x="6949440" y="4297680"/>
            <a:ext cx="4663440" cy="1463040"/>
          </a:xfrm>
          <a:prstGeom prst="roundRect">
            <a:avLst>
              <a:gd name="adj" fmla="val 7500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178040" y="43891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Dans mes limites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actions irréversibles sur le parc d'un client étaient réservées aux techniciens confirmés. Je faisais valider les opérations sensibles.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Comment tout est relié</a:t>
            </a:r>
            <a:endParaRPr lang="en-US" sz="3200" dirty="0"/>
          </a:p>
        </p:txBody>
      </p:sp>
      <p:sp>
        <p:nvSpPr>
          <p:cNvPr id="3" name="Nœud technicien"/>
          <p:cNvSpPr/>
          <p:nvPr/>
        </p:nvSpPr>
        <p:spPr>
          <a:xfrm>
            <a:off x="548640" y="1600200"/>
            <a:ext cx="329184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2000"/>
              </a:srgbClr>
            </a:outerShdw>
          </a:effectLst>
        </p:spPr>
      </p:sp>
      <p:sp>
        <p:nvSpPr>
          <p:cNvPr id="4" name="Nœud technicien cercle"/>
          <p:cNvSpPr/>
          <p:nvPr/>
        </p:nvSpPr>
        <p:spPr>
          <a:xfrm>
            <a:off x="777240" y="18288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Nœud technicien icône" descr="Nœud technici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9897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Technicien ZETES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moi, sur la console</a:t>
            </a:r>
            <a:endParaRPr lang="en-US" sz="1700" dirty="0"/>
          </a:p>
        </p:txBody>
      </p:sp>
      <p:sp>
        <p:nvSpPr>
          <p:cNvPr id="7" name="Nœud SOTI"/>
          <p:cNvSpPr/>
          <p:nvPr/>
        </p:nvSpPr>
        <p:spPr>
          <a:xfrm>
            <a:off x="4572000" y="1600200"/>
            <a:ext cx="329184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2000"/>
              </a:srgbClr>
            </a:outerShdw>
          </a:effectLst>
        </p:spPr>
      </p:sp>
      <p:sp>
        <p:nvSpPr>
          <p:cNvPr id="8" name="Nœud SOTI cercle"/>
          <p:cNvSpPr/>
          <p:nvPr/>
        </p:nvSpPr>
        <p:spPr>
          <a:xfrm>
            <a:off x="4800600" y="1828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Nœud SOTI icône" descr="Nœud SO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1989734"/>
            <a:ext cx="409651" cy="4096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1691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Console SOTI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MDM MobiControl</a:t>
            </a:r>
            <a:endParaRPr lang="en-US" sz="1700" dirty="0"/>
          </a:p>
        </p:txBody>
      </p:sp>
      <p:sp>
        <p:nvSpPr>
          <p:cNvPr id="11" name="Nœud terminaux"/>
          <p:cNvSpPr/>
          <p:nvPr/>
        </p:nvSpPr>
        <p:spPr>
          <a:xfrm>
            <a:off x="4572000" y="4343400"/>
            <a:ext cx="329184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2000"/>
              </a:srgbClr>
            </a:outerShdw>
          </a:effectLst>
        </p:spPr>
      </p:sp>
      <p:sp>
        <p:nvSpPr>
          <p:cNvPr id="12" name="Nœud terminaux cercle"/>
          <p:cNvSpPr/>
          <p:nvPr/>
        </p:nvSpPr>
        <p:spPr>
          <a:xfrm>
            <a:off x="4800600" y="4572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Nœud terminaux icône" descr="Nœud terminau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34" y="4732934"/>
            <a:ext cx="409651" cy="4096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69280" y="4434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Terminaux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Honeywell, Zebra</a:t>
            </a:r>
            <a:endParaRPr lang="en-US" sz="1700" dirty="0"/>
          </a:p>
        </p:txBody>
      </p:sp>
      <p:sp>
        <p:nvSpPr>
          <p:cNvPr id="15" name="Nœud serveur client"/>
          <p:cNvSpPr/>
          <p:nvPr/>
        </p:nvSpPr>
        <p:spPr>
          <a:xfrm>
            <a:off x="8503920" y="4343400"/>
            <a:ext cx="310896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2000"/>
              </a:srgbClr>
            </a:outerShdw>
          </a:effectLst>
        </p:spPr>
      </p:sp>
      <p:sp>
        <p:nvSpPr>
          <p:cNvPr id="16" name="Nœud serveur client cercle"/>
          <p:cNvSpPr/>
          <p:nvPr/>
        </p:nvSpPr>
        <p:spPr>
          <a:xfrm>
            <a:off x="8732520" y="45720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Nœud serveur client icône" descr="Nœud serveur cli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454" y="4732934"/>
            <a:ext cx="409651" cy="4096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01200" y="44348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Serveur du client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WMS, ERP</a:t>
            </a:r>
            <a:endParaRPr lang="en-US" sz="1700" dirty="0"/>
          </a:p>
        </p:txBody>
      </p:sp>
      <p:sp>
        <p:nvSpPr>
          <p:cNvPr id="19" name="Flèche technicien vers SOTI"/>
          <p:cNvSpPr/>
          <p:nvPr/>
        </p:nvSpPr>
        <p:spPr>
          <a:xfrm>
            <a:off x="3840480" y="2194560"/>
            <a:ext cx="73152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Text 14"/>
          <p:cNvSpPr txBox="1"/>
          <p:nvPr/>
        </p:nvSpPr>
        <p:spPr>
          <a:xfrm>
            <a:off x="3703320" y="1783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configure</a:t>
            </a:r>
            <a:endParaRPr lang="en-US" sz="1300" dirty="0"/>
          </a:p>
        </p:txBody>
      </p:sp>
      <p:sp>
        <p:nvSpPr>
          <p:cNvPr id="21" name="Flèche SOTI vers terminaux"/>
          <p:cNvSpPr/>
          <p:nvPr/>
        </p:nvSpPr>
        <p:spPr>
          <a:xfrm>
            <a:off x="6217920" y="2788920"/>
            <a:ext cx="0" cy="155448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6400800" y="3063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Gestion : profils, applications, mode kiosque, verrouillage</a:t>
            </a:r>
            <a:endParaRPr lang="en-US" sz="1300" dirty="0"/>
          </a:p>
        </p:txBody>
      </p:sp>
      <p:sp>
        <p:nvSpPr>
          <p:cNvPr id="23" name="Flèche terminaux vers serveur"/>
          <p:cNvSpPr/>
          <p:nvPr/>
        </p:nvSpPr>
        <p:spPr>
          <a:xfrm>
            <a:off x="7863840" y="4937760"/>
            <a:ext cx="6400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Réseau"/>
          <p:cNvSpPr/>
          <p:nvPr/>
        </p:nvSpPr>
        <p:spPr>
          <a:xfrm>
            <a:off x="4892040" y="3337560"/>
            <a:ext cx="1188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89204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Wi-Fi / 4G</a:t>
            </a:r>
            <a:endParaRPr lang="en-US" sz="1300" dirty="0"/>
          </a:p>
        </p:txBody>
      </p:sp>
      <p:sp>
        <p:nvSpPr>
          <p:cNvPr id="26" name="Légende"/>
          <p:cNvSpPr/>
          <p:nvPr/>
        </p:nvSpPr>
        <p:spPr>
          <a:xfrm>
            <a:off x="548640" y="32918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7240" y="34290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Deux liens pour chaque terminal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Gestion (corail)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SOTI envoie la configuration au terminal.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Métier (sarcelle)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données scannées partent vers le serveur du client, grâce à l'application Velocity.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sécurité de la flotte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terminal perdu ou volé peut donner accès aux applications et aux données du client. Le MDM permet de garder le contrôle.</a:t>
            </a:r>
            <a:endParaRPr lang="en-US" sz="1600" dirty="0"/>
          </a:p>
        </p:txBody>
      </p:sp>
      <p:sp>
        <p:nvSpPr>
          <p:cNvPr id="4" name="Carte Mode kiosque"/>
          <p:cNvSpPr/>
          <p:nvPr/>
        </p:nvSpPr>
        <p:spPr>
          <a:xfrm>
            <a:off x="548640" y="233172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sp>
        <p:nvSpPr>
          <p:cNvPr id="5" name="Mode kiosque cercle"/>
          <p:cNvSpPr/>
          <p:nvPr/>
        </p:nvSpPr>
        <p:spPr>
          <a:xfrm>
            <a:off x="822960" y="2606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Mode kiosque icône" descr="Mode kios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277703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 kiosque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L'utilisateur n'accède qu'aux applications autorisées. Un mot de passe administrateur est nécessaire pour en sortir.</a:t>
            </a:r>
            <a:endParaRPr lang="en-US" sz="1400" dirty="0"/>
          </a:p>
        </p:txBody>
      </p:sp>
      <p:sp>
        <p:nvSpPr>
          <p:cNvPr id="9" name="Carte Verrouillage à distance"/>
          <p:cNvSpPr/>
          <p:nvPr/>
        </p:nvSpPr>
        <p:spPr>
          <a:xfrm>
            <a:off x="4297680" y="233172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sp>
        <p:nvSpPr>
          <p:cNvPr id="10" name="Verrouillage à distance cercle"/>
          <p:cNvSpPr/>
          <p:nvPr/>
        </p:nvSpPr>
        <p:spPr>
          <a:xfrm>
            <a:off x="4572000" y="2606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Verrouillage à distance icône" descr="Verrouillage à dist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93" y="2777033"/>
            <a:ext cx="435254" cy="435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Verrouillage à distance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 terminal perdu ou volé est bloqué depuis la console SOTI : il devient inutilisable.</a:t>
            </a:r>
            <a:endParaRPr lang="en-US" sz="1400" dirty="0"/>
          </a:p>
        </p:txBody>
      </p:sp>
      <p:sp>
        <p:nvSpPr>
          <p:cNvPr id="14" name="Carte Effacement à distance"/>
          <p:cNvSpPr/>
          <p:nvPr/>
        </p:nvSpPr>
        <p:spPr>
          <a:xfrm>
            <a:off x="8046720" y="233172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sp>
        <p:nvSpPr>
          <p:cNvPr id="15" name="Effacement à distance cercle"/>
          <p:cNvSpPr/>
          <p:nvPr/>
        </p:nvSpPr>
        <p:spPr>
          <a:xfrm>
            <a:off x="8321040" y="26060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Effacement à distance icône" descr="Effacement à dist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777033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3544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Effacement à distance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 cas de vol, les données du terminal sont supprimées à distance pour protéger le client.</a:t>
            </a:r>
            <a:endParaRPr lang="en-US" sz="1400" dirty="0"/>
          </a:p>
        </p:txBody>
      </p:sp>
      <p:sp>
        <p:nvSpPr>
          <p:cNvPr id="19" name="Mon rôle sécurité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 rôle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j'appliquais le mode kiosque lors de la préparation. Le verrouillage et l'effacement, irréversibles, étaient déclenchés par les techniciens confirmés.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Procédure (1/4) : créer la stratégie d'application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97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Captures : documentation officielle SOTI MobiControl. Procédure que j'appliquais pour les clients de ZETES.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Objectif : installer et configurer automatiquement Velocity, le client d'émulation de terminal qui relie le terminal au serveur du client.</a:t>
            </a:r>
            <a:endParaRPr lang="en-US" sz="1400" dirty="0"/>
          </a:p>
        </p:txBody>
      </p:sp>
      <p:sp>
        <p:nvSpPr>
          <p:cNvPr id="5" name="Étape 1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379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connecter à la console SOTI MobiControl</a:t>
            </a:r>
            <a:endParaRPr lang="en-US" sz="1500" dirty="0"/>
          </a:p>
        </p:txBody>
      </p:sp>
      <p:sp>
        <p:nvSpPr>
          <p:cNvPr id="8" name="Étape 2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4378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Créer une stratégie d'application pour Android Enterprise</a:t>
            </a:r>
            <a:endParaRPr lang="en-US" sz="1500" dirty="0"/>
          </a:p>
        </p:txBody>
      </p:sp>
      <p:sp>
        <p:nvSpPr>
          <p:cNvPr id="11" name="Étape 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84962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Nommer la stratégie, puis passer à l'onglet APPS</a:t>
            </a:r>
            <a:endParaRPr lang="en-US" sz="1500" dirty="0"/>
          </a:p>
        </p:txBody>
      </p:sp>
      <p:sp>
        <p:nvSpPr>
          <p:cNvPr id="14" name="Capture SOTI n178 cadre"/>
          <p:cNvSpPr/>
          <p:nvPr/>
        </p:nvSpPr>
        <p:spPr>
          <a:xfrm>
            <a:off x="6504746" y="1700784"/>
            <a:ext cx="4181228" cy="222199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15" name="Capture SOTI n178" descr="Capture SOTI n17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322" y="1737360"/>
            <a:ext cx="4108076" cy="2148840"/>
          </a:xfrm>
          <a:prstGeom prst="rect">
            <a:avLst/>
          </a:prstGeom>
        </p:spPr>
      </p:pic>
      <p:sp>
        <p:nvSpPr>
          <p:cNvPr id="16" name="Capture SOTI n179 cadre"/>
          <p:cNvSpPr/>
          <p:nvPr/>
        </p:nvSpPr>
        <p:spPr>
          <a:xfrm>
            <a:off x="6311040" y="4032504"/>
            <a:ext cx="4568641" cy="208483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17" name="Capture SOTI n179" descr="Capture SOTI n179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616" y="4069080"/>
            <a:ext cx="4495489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Procédure (2/4) : ajouter l'application Velocity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97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Captures : documentation officielle SOTI MobiControl. Procédure que j'appliquais pour les clients de ZETES.</a:t>
            </a:r>
            <a:endParaRPr lang="en-US" sz="1100" dirty="0"/>
          </a:p>
        </p:txBody>
      </p:sp>
      <p:sp>
        <p:nvSpPr>
          <p:cNvPr id="4" name="Ét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379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Cliquer sur « + », choisir la liaison du terminal (ici Zebra), puis Managed Google Play</a:t>
            </a:r>
            <a:endParaRPr lang="en-US" sz="1500" dirty="0"/>
          </a:p>
        </p:txBody>
      </p:sp>
      <p:sp>
        <p:nvSpPr>
          <p:cNvPr id="7" name="Étape 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4378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Rechercher Velocity Client, le sélectionner et l'approuver</a:t>
            </a:r>
            <a:endParaRPr lang="en-US" sz="1500" dirty="0"/>
          </a:p>
        </p:txBody>
      </p:sp>
      <p:sp>
        <p:nvSpPr>
          <p:cNvPr id="10" name="Capture SOTI n180 cadre"/>
          <p:cNvSpPr/>
          <p:nvPr/>
        </p:nvSpPr>
        <p:spPr>
          <a:xfrm>
            <a:off x="6460864" y="1700784"/>
            <a:ext cx="4268991" cy="222199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11" name="Capture SOTI n180" descr="Capture SOTI n1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7440" y="1737360"/>
            <a:ext cx="4195839" cy="2148840"/>
          </a:xfrm>
          <a:prstGeom prst="rect">
            <a:avLst/>
          </a:prstGeom>
        </p:spPr>
      </p:pic>
      <p:sp>
        <p:nvSpPr>
          <p:cNvPr id="12" name="Capture SOTI n181 cadre"/>
          <p:cNvSpPr/>
          <p:nvPr/>
        </p:nvSpPr>
        <p:spPr>
          <a:xfrm>
            <a:off x="7724866" y="4032504"/>
            <a:ext cx="1740989" cy="208483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13" name="Capture SOTI n181" descr="Capture SOTI n18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42" y="4069080"/>
            <a:ext cx="1667837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Procédure (3/4) : rendre l'installation obligatoire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97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Captures : documentation officielle SOTI MobiControl. Procédure que j'appliquais pour les clients de ZETES.</a:t>
            </a:r>
            <a:endParaRPr lang="en-US" sz="1100" dirty="0"/>
          </a:p>
        </p:txBody>
      </p:sp>
      <p:sp>
        <p:nvSpPr>
          <p:cNvPr id="4" name="Étape 6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379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Choisir le paramètre d'approbation, puis Terminé</a:t>
            </a:r>
            <a:endParaRPr lang="en-US" sz="1500" dirty="0"/>
          </a:p>
        </p:txBody>
      </p:sp>
      <p:sp>
        <p:nvSpPr>
          <p:cNvPr id="7" name="Étape 7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426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Cliquer sur OK pour revenir à la liste des applications</a:t>
            </a:r>
            <a:endParaRPr lang="en-US" sz="1500" dirty="0"/>
          </a:p>
        </p:txBody>
      </p:sp>
      <p:sp>
        <p:nvSpPr>
          <p:cNvPr id="10" name="Étape 8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472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Cocher Velocity, puis ouvrir les configurations avancées</a:t>
            </a:r>
            <a:endParaRPr lang="en-US" sz="1500" dirty="0"/>
          </a:p>
        </p:txBody>
      </p:sp>
      <p:sp>
        <p:nvSpPr>
          <p:cNvPr id="13" name="Étape 9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Options d'installation : type de déploiement « Obligatoire »</a:t>
            </a:r>
            <a:endParaRPr lang="en-US" sz="1500" dirty="0"/>
          </a:p>
        </p:txBody>
      </p:sp>
      <p:sp>
        <p:nvSpPr>
          <p:cNvPr id="16" name="Capture SOTI n182 cadre"/>
          <p:cNvSpPr/>
          <p:nvPr/>
        </p:nvSpPr>
        <p:spPr>
          <a:xfrm>
            <a:off x="7092034" y="1700784"/>
            <a:ext cx="3006652" cy="222199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17" name="Capture SOTI n182" descr="Capture SOTI n18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8610" y="1737360"/>
            <a:ext cx="2933500" cy="2148840"/>
          </a:xfrm>
          <a:prstGeom prst="rect">
            <a:avLst/>
          </a:prstGeom>
        </p:spPr>
      </p:pic>
      <p:sp>
        <p:nvSpPr>
          <p:cNvPr id="18" name="Capture SOTI n183 cadre"/>
          <p:cNvSpPr/>
          <p:nvPr/>
        </p:nvSpPr>
        <p:spPr>
          <a:xfrm>
            <a:off x="5645814" y="4032504"/>
            <a:ext cx="5899093" cy="208483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19" name="Capture SOTI n183" descr="Capture SOTI n18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390" y="4069080"/>
            <a:ext cx="5825941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Procédure (4/4) : configurer le profil d'hôte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97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Captures : documentation officielle SOTI MobiControl. Procédure que j'appliquais pour les clients de ZETES.</a:t>
            </a:r>
            <a:endParaRPr lang="en-US" sz="1100" dirty="0"/>
          </a:p>
        </p:txBody>
      </p:sp>
      <p:sp>
        <p:nvSpPr>
          <p:cNvPr id="4" name="Étape 10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379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Activer Managed App Config</a:t>
            </a:r>
            <a:endParaRPr lang="en-US" sz="1500" dirty="0"/>
          </a:p>
        </p:txBody>
      </p:sp>
      <p:sp>
        <p:nvSpPr>
          <p:cNvPr id="7" name="Étape 11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426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Activer le profil d'hôte (Host Profile)</a:t>
            </a:r>
            <a:endParaRPr lang="en-US" sz="1500" dirty="0"/>
          </a:p>
        </p:txBody>
      </p:sp>
      <p:sp>
        <p:nvSpPr>
          <p:cNvPr id="10" name="Étape 12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472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Renseigner nom, type (VT220), adresse et port du serveur du client</a:t>
            </a:r>
            <a:endParaRPr lang="en-US" sz="1500" dirty="0"/>
          </a:p>
        </p:txBody>
      </p:sp>
      <p:sp>
        <p:nvSpPr>
          <p:cNvPr id="13" name="Étape 13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Enregistrer</a:t>
            </a:r>
            <a:endParaRPr lang="en-US" sz="1500" dirty="0"/>
          </a:p>
        </p:txBody>
      </p:sp>
      <p:sp>
        <p:nvSpPr>
          <p:cNvPr id="16" name="Étape 14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56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Attribuer la stratégie aux terminaux Android Enterprise ciblés</a:t>
            </a:r>
            <a:endParaRPr lang="en-US" sz="1500" dirty="0"/>
          </a:p>
        </p:txBody>
      </p:sp>
      <p:sp>
        <p:nvSpPr>
          <p:cNvPr id="19" name="Capture SOTI n185 cadre"/>
          <p:cNvSpPr/>
          <p:nvPr/>
        </p:nvSpPr>
        <p:spPr>
          <a:xfrm>
            <a:off x="6208490" y="1700784"/>
            <a:ext cx="4773740" cy="222199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20" name="Capture SOTI n185" descr="Capture SOTI n18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066" y="1737360"/>
            <a:ext cx="4700588" cy="2148840"/>
          </a:xfrm>
          <a:prstGeom prst="rect">
            <a:avLst/>
          </a:prstGeom>
        </p:spPr>
      </p:pic>
      <p:sp>
        <p:nvSpPr>
          <p:cNvPr id="21" name="Capture SOTI n186 cadre"/>
          <p:cNvSpPr/>
          <p:nvPr/>
        </p:nvSpPr>
        <p:spPr>
          <a:xfrm>
            <a:off x="5588972" y="4032504"/>
            <a:ext cx="6012776" cy="2084832"/>
          </a:xfrm>
          <a:prstGeom prst="rect">
            <a:avLst/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01600" dist="38100" dir="5400000">
              <a:srgbClr val="1D2326">
                <a:alpha val="18000"/>
              </a:srgbClr>
            </a:outerShdw>
          </a:effectLst>
        </p:spPr>
      </p:sp>
      <p:pic>
        <p:nvPicPr>
          <p:cNvPr id="22" name="Capture SOTI n186" descr="Capture SOTI n18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548" y="4069080"/>
            <a:ext cx="5939624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Problèmes rencontrés et solutions</a:t>
            </a:r>
            <a:endParaRPr lang="en-US" sz="3200" dirty="0"/>
          </a:p>
        </p:txBody>
      </p:sp>
      <p:sp>
        <p:nvSpPr>
          <p:cNvPr id="3" name="Carte problème 1"/>
          <p:cNvSpPr/>
          <p:nvPr/>
        </p:nvSpPr>
        <p:spPr>
          <a:xfrm>
            <a:off x="54864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pic>
        <p:nvPicPr>
          <p:cNvPr id="4" name="Icône problème 1" descr="Probl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Terminal qui ne s'inscrit pas dans SOTI</a:t>
            </a:r>
            <a:endParaRPr lang="en-US" sz="1800" dirty="0"/>
          </a:p>
        </p:txBody>
      </p:sp>
      <p:pic>
        <p:nvPicPr>
          <p:cNvPr id="6" name="Icône solution 1" descr="Sol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4206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Connexion du terminal à la console SOTI pour diagnostiquer et corriger son inscription depuis l'interface</a:t>
            </a:r>
            <a:endParaRPr lang="en-US" sz="1500" dirty="0"/>
          </a:p>
        </p:txBody>
      </p:sp>
      <p:sp>
        <p:nvSpPr>
          <p:cNvPr id="8" name="Carte problème 2"/>
          <p:cNvSpPr/>
          <p:nvPr/>
        </p:nvSpPr>
        <p:spPr>
          <a:xfrm>
            <a:off x="429768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pic>
        <p:nvPicPr>
          <p:cNvPr id="9" name="Icône problème 2" descr="Problè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78308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1772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Mise à jour Android qui échoue</a:t>
            </a:r>
            <a:endParaRPr lang="en-US" sz="1800" dirty="0"/>
          </a:p>
        </p:txBody>
      </p:sp>
      <p:pic>
        <p:nvPicPr>
          <p:cNvPr id="11" name="Icône solution 2" descr="Solu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56616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617720" y="4206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Réinitialisation du terminal aux paramètres d'usine, puis reprise complète de la procédure</a:t>
            </a:r>
            <a:endParaRPr lang="en-US" sz="1500" dirty="0"/>
          </a:p>
        </p:txBody>
      </p:sp>
      <p:sp>
        <p:nvSpPr>
          <p:cNvPr id="13" name="Carte problème 3"/>
          <p:cNvSpPr/>
          <p:nvPr/>
        </p:nvSpPr>
        <p:spPr>
          <a:xfrm>
            <a:off x="804672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5E3E1"/>
            </a:solidFill>
            <a:prstDash val="solid"/>
          </a:ln>
          <a:effectLst>
            <a:outerShdw sx="100000" sy="100000" kx="0" ky="0" algn="bl" rotWithShape="0" blurRad="127000" dist="38100" dir="5400000">
              <a:srgbClr val="1D2326">
                <a:alpha val="12000"/>
              </a:srgbClr>
            </a:outerShdw>
          </a:effectLst>
        </p:spPr>
      </p:sp>
      <p:pic>
        <p:nvPicPr>
          <p:cNvPr id="14" name="Icône problème 3" descr="Problèm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78308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36676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Incident matériel</a:t>
            </a:r>
            <a:endParaRPr lang="en-US" sz="1800" dirty="0"/>
          </a:p>
        </p:txBody>
      </p:sp>
      <p:pic>
        <p:nvPicPr>
          <p:cNvPr id="16" name="Icône solution 3" descr="Solu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566160"/>
            <a:ext cx="548640" cy="54864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366760" y="4206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Ouverture et suivi du dossier avec le fournisseur (Honeywell ou Zebra) jusqu'à la résolution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support et la relation client</a:t>
            </a:r>
            <a:endParaRPr lang="en-US" sz="3200" dirty="0"/>
          </a:p>
        </p:txBody>
      </p:sp>
      <p:sp>
        <p:nvSpPr>
          <p:cNvPr id="3" name="Ét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Traiter les réclamations par mail ou par téléphone</a:t>
            </a:r>
            <a:endParaRPr lang="en-US" sz="1600" dirty="0"/>
          </a:p>
        </p:txBody>
      </p:sp>
      <p:sp>
        <p:nvSpPr>
          <p:cNvPr id="6" name="Étape 2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Faire un premier diagnostic et expliquer la solution au client</a:t>
            </a:r>
            <a:endParaRPr lang="en-US" sz="1600" dirty="0"/>
          </a:p>
        </p:txBody>
      </p:sp>
      <p:sp>
        <p:nvSpPr>
          <p:cNvPr id="9" name="Étape 3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Vérifier la prise en charge (garantie) dans les fichiers de suivi</a:t>
            </a:r>
            <a:endParaRPr lang="en-US" sz="1600" dirty="0"/>
          </a:p>
        </p:txBody>
      </p:sp>
      <p:sp>
        <p:nvSpPr>
          <p:cNvPr id="12" name="Étape 4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69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Décrire le dysfonctionnement et l'escalader au bon niveau ou au fournisseur</a:t>
            </a:r>
            <a:endParaRPr lang="en-US" sz="1600" dirty="0"/>
          </a:p>
        </p:txBody>
      </p:sp>
      <p:sp>
        <p:nvSpPr>
          <p:cNvPr id="15" name="Étape 5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37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Suivre les demandes dans l'outil Backlog et respecter les délais</a:t>
            </a:r>
            <a:endParaRPr lang="en-US" sz="1600" dirty="0"/>
          </a:p>
        </p:txBody>
      </p:sp>
      <p:pic>
        <p:nvPicPr>
          <p:cNvPr id="18" name="Image informatique mobile" descr="Terminaux, casque et imprimante d'étiquet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577626"/>
            <a:ext cx="4206240" cy="3062669"/>
          </a:xfrm>
          <a:prstGeom prst="rect">
            <a:avLst/>
          </a:prstGeom>
        </p:spPr>
      </p:pic>
      <p:sp>
        <p:nvSpPr>
          <p:cNvPr id="19" name="Savoir-être"/>
          <p:cNvSpPr/>
          <p:nvPr/>
        </p:nvSpPr>
        <p:spPr>
          <a:xfrm>
            <a:off x="7406640" y="498348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35240" y="50292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Garder son calme, instaurer la confiance et partager l'information avec l'équipe.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Ce que ce projet m'a apporté</a:t>
            </a:r>
            <a:endParaRPr lang="en-US" sz="3600" dirty="0"/>
          </a:p>
        </p:txBody>
      </p:sp>
      <p:sp>
        <p:nvSpPr>
          <p:cNvPr id="3" name="Bilan B1.1"/>
          <p:cNvSpPr/>
          <p:nvPr/>
        </p:nvSpPr>
        <p:spPr>
          <a:xfrm>
            <a:off x="640080" y="182880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2A3236"/>
          </a:solidFill>
          <a:ln w="12700">
            <a:solidFill>
              <a:srgbClr val="2A32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B1.1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Gérer le patrimoine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Traçabilité de chaque terminal : numéro de série, propriétaire, localisation</a:t>
            </a:r>
            <a:endParaRPr lang="en-US" sz="1400" dirty="0"/>
          </a:p>
        </p:txBody>
      </p:sp>
      <p:sp>
        <p:nvSpPr>
          <p:cNvPr id="7" name="Bilan B1.2"/>
          <p:cNvSpPr/>
          <p:nvPr/>
        </p:nvSpPr>
        <p:spPr>
          <a:xfrm>
            <a:off x="4343400" y="182880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2A3236"/>
          </a:solidFill>
          <a:ln w="12700">
            <a:solidFill>
              <a:srgbClr val="2A32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B1.2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Répondre aux incidents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154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Diagnostic, réinitialisation, escalade fournisseur, support de niveau 3</a:t>
            </a:r>
            <a:endParaRPr lang="en-US" sz="1400" dirty="0"/>
          </a:p>
        </p:txBody>
      </p:sp>
      <p:sp>
        <p:nvSpPr>
          <p:cNvPr id="11" name="Bilan B1.5"/>
          <p:cNvSpPr/>
          <p:nvPr/>
        </p:nvSpPr>
        <p:spPr>
          <a:xfrm>
            <a:off x="8046720" y="182880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2A3236"/>
          </a:solidFill>
          <a:ln w="12700">
            <a:solidFill>
              <a:srgbClr val="2A32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B1.5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Mettre à disposition un service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154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Terminaux livrés prêts à l'emploi, configurés à distance par MDM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Cette expérience m'a donné envie d'aller plus loin dans les systèmes et les réseaux : c'est ce qui m'a conduit au BTS SIO option SISR.</a:t>
            </a:r>
            <a:endParaRPr lang="en-US" sz="17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640080" y="2011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40080" y="38404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Issak">
  <a:themeElements>
    <a:clrScheme name="Portfolio Issak">
      <a:dk1>
        <a:srgbClr val="1D2326"/>
      </a:dk1>
      <a:lt1>
        <a:srgbClr val="FFFFFF"/>
      </a:lt1>
      <a:dk2>
        <a:srgbClr val="1F6F66"/>
      </a:dk2>
      <a:lt2>
        <a:srgbClr val="EEF6F5"/>
      </a:lt2>
      <a:accent1>
        <a:srgbClr val="2FA89A"/>
      </a:accent1>
      <a:accent2>
        <a:srgbClr val="E0664F"/>
      </a:accent2>
      <a:accent3>
        <a:srgbClr val="F2B84B"/>
      </a:accent3>
      <a:accent4>
        <a:srgbClr val="5B6B70"/>
      </a:accent4>
      <a:accent5>
        <a:srgbClr val="BFE5DF"/>
      </a:accent5>
      <a:accent6>
        <a:srgbClr val="B23A2A"/>
      </a:accent6>
      <a:hlink>
        <a:srgbClr val="1F6F66"/>
      </a:hlink>
      <a:folHlink>
        <a:srgbClr val="5B6B70"/>
      </a:folHlink>
    </a:clrScheme>
    <a:fontScheme name="Portfolio Issa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RP-01 · Déploiement de terminaux mobiles par MDM</dc:title>
  <dc:subject>BTS SIO SISR · Épreuve E5</dc:subject>
  <dc:creator>Issak Dirir</dc:creator>
  <cp:lastModifiedBy>Issak Dirir</cp:lastModifiedBy>
  <cp:revision>1</cp:revision>
  <dcterms:created xsi:type="dcterms:W3CDTF">2026-10-27T11:53:09Z</dcterms:created>
  <dcterms:modified xsi:type="dcterms:W3CDTF">2026-10-27T11:53:09Z</dcterms:modified>
</cp:coreProperties>
</file>